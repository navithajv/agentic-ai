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81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FRAME">
    <p:bg>
      <p:bgPr>
        <a:solidFill>
          <a:srgbClr val="F4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A1F5D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83464"/>
            <a:ext cx="1938528" cy="7863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" y="1225296"/>
            <a:ext cx="10607040" cy="41148"/>
          </a:xfrm>
          <a:prstGeom prst="rect">
            <a:avLst/>
          </a:prstGeom>
          <a:solidFill>
            <a:srgbClr val="6E4B8A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FRAME">
    <p:bg>
      <p:bgPr>
        <a:solidFill>
          <a:srgbClr val="F4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A1F5D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83464"/>
            <a:ext cx="1938528" cy="7863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" y="1225296"/>
            <a:ext cx="10607040" cy="41148"/>
          </a:xfrm>
          <a:prstGeom prst="rect">
            <a:avLst/>
          </a:prstGeom>
          <a:solidFill>
            <a:srgbClr val="6E4B8A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partment"/>
          <p:cNvSpPr txBox="1"/>
          <p:nvPr/>
        </p:nvSpPr>
        <p:spPr>
          <a:xfrm>
            <a:off x="365760" y="164592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AND MACHINE LEARNING</a:t>
            </a:r>
            <a:endParaRPr lang="en-US" sz="2000" dirty="0"/>
          </a:p>
        </p:txBody>
      </p:sp>
      <p:sp>
        <p:nvSpPr>
          <p:cNvPr id="3" name="Title Box"/>
          <p:cNvSpPr/>
          <p:nvPr/>
        </p:nvSpPr>
        <p:spPr>
          <a:xfrm>
            <a:off x="758952" y="2734056"/>
            <a:ext cx="10671048" cy="2039112"/>
          </a:xfrm>
          <a:prstGeom prst="roundRect">
            <a:avLst>
              <a:gd name="adj" fmla="val 2242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Project Name"/>
          <p:cNvSpPr txBox="1"/>
          <p:nvPr/>
        </p:nvSpPr>
        <p:spPr>
          <a:xfrm>
            <a:off x="758952" y="2907792"/>
            <a:ext cx="1067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7F1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Wolfly</a:t>
            </a:r>
            <a:endParaRPr lang="en-US" sz="4000" dirty="0"/>
          </a:p>
        </p:txBody>
      </p:sp>
      <p:sp>
        <p:nvSpPr>
          <p:cNvPr id="5" name="Project Subtitle"/>
          <p:cNvSpPr txBox="1"/>
          <p:nvPr/>
        </p:nvSpPr>
        <p:spPr>
          <a:xfrm>
            <a:off x="758952" y="379476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1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Legal Document Analysis and Generation</a:t>
            </a:r>
            <a:endParaRPr lang="en-US" sz="2400" dirty="0"/>
          </a:p>
        </p:txBody>
      </p:sp>
      <p:sp>
        <p:nvSpPr>
          <p:cNvPr id="6" name="Accent Bar"/>
          <p:cNvSpPr/>
          <p:nvPr/>
        </p:nvSpPr>
        <p:spPr>
          <a:xfrm>
            <a:off x="4709160" y="4837176"/>
            <a:ext cx="2788920" cy="54864"/>
          </a:xfrm>
          <a:prstGeom prst="roundRect">
            <a:avLst>
              <a:gd name="adj" fmla="val 50000"/>
            </a:avLst>
          </a:prstGeom>
          <a:solidFill>
            <a:srgbClr val="8B6FB3"/>
          </a:solidFill>
          <a:ln w="12700">
            <a:solidFill>
              <a:srgbClr val="8B6FB3"/>
            </a:solidFill>
            <a:prstDash val="solid"/>
          </a:ln>
        </p:spPr>
      </p:sp>
      <p:sp>
        <p:nvSpPr>
          <p:cNvPr id="7" name="Presented By"/>
          <p:cNvSpPr txBox="1"/>
          <p:nvPr/>
        </p:nvSpPr>
        <p:spPr>
          <a:xfrm>
            <a:off x="1188720" y="51206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500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Ashwin K (231501027)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500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Akshaya Nair S </a:t>
            </a:r>
            <a:r>
              <a:rPr lang="en-US" sz="1500" dirty="0" err="1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(231501027)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Navitha J V (231501106)</a:t>
            </a:r>
            <a:endParaRPr lang="en-US" sz="1500" dirty="0"/>
          </a:p>
        </p:txBody>
      </p:sp>
      <p:sp>
        <p:nvSpPr>
          <p:cNvPr id="8" name="Course"/>
          <p:cNvSpPr txBox="1"/>
          <p:nvPr/>
        </p:nvSpPr>
        <p:spPr>
          <a:xfrm>
            <a:off x="7315200" y="51206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Submitted to</a:t>
            </a:r>
            <a:endParaRPr lang="en-US" sz="15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500" dirty="0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Dr. M. </a:t>
            </a:r>
            <a:r>
              <a:rPr lang="en-US" sz="1500" dirty="0" err="1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Soundarya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Professor, Department of AI&amp;ML,</a:t>
            </a:r>
          </a:p>
          <a:p>
            <a:pPr marL="0" indent="0" algn="ctr">
              <a:buNone/>
            </a:pPr>
            <a:r>
              <a:rPr lang="en-US" sz="1500" dirty="0" err="1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Rajalakshmi</a:t>
            </a:r>
            <a:r>
              <a:rPr lang="en-US" sz="1500" dirty="0">
                <a:solidFill>
                  <a:srgbClr val="5E5661"/>
                </a:solidFill>
                <a:latin typeface="Arial" pitchFamily="34" charset="0"/>
                <a:cs typeface="Arial" pitchFamily="34" charset="-120"/>
              </a:rPr>
              <a:t> Engineering College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 &amp; Our Solution</a:t>
            </a:r>
            <a:endParaRPr lang="en-US" sz="2400" dirty="0"/>
          </a:p>
        </p:txBody>
      </p:sp>
      <p:sp>
        <p:nvSpPr>
          <p:cNvPr id="3" name="Problem Card"/>
          <p:cNvSpPr/>
          <p:nvPr/>
        </p:nvSpPr>
        <p:spPr>
          <a:xfrm>
            <a:off x="758952" y="1600200"/>
            <a:ext cx="4892040" cy="3520440"/>
          </a:xfrm>
          <a:prstGeom prst="roundRect">
            <a:avLst>
              <a:gd name="adj" fmla="val 1299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Problem Text"/>
          <p:cNvSpPr txBox="1"/>
          <p:nvPr/>
        </p:nvSpPr>
        <p:spPr>
          <a:xfrm>
            <a:off x="758952" y="1600200"/>
            <a:ext cx="4892040" cy="352044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case is spread over FIRs, statements, notices, investigation reports and judgments. Dates, parties and legal provisions are scattered, so finding and ordering them by hand is slow and error-prone.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property and criminal disputes often involve several statutes at once, and BNS 2023 now replaces IPC 1860. Case files are also sensitive, so where the data is processed matters.</a:t>
            </a:r>
            <a:endParaRPr lang="en-US" sz="1600" dirty="0"/>
          </a:p>
        </p:txBody>
      </p:sp>
      <p:sp>
        <p:nvSpPr>
          <p:cNvPr id="5" name="Solution Card"/>
          <p:cNvSpPr/>
          <p:nvPr/>
        </p:nvSpPr>
        <p:spPr>
          <a:xfrm>
            <a:off x="5989320" y="1600200"/>
            <a:ext cx="5440680" cy="3520440"/>
          </a:xfrm>
          <a:prstGeom prst="roundRect">
            <a:avLst>
              <a:gd name="adj" fmla="val 1299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6" name="Solution Text"/>
          <p:cNvSpPr txBox="1"/>
          <p:nvPr/>
        </p:nvSpPr>
        <p:spPr>
          <a:xfrm>
            <a:off x="5989320" y="1600200"/>
            <a:ext cx="5440680" cy="352044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Wolfly approach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local-first web app backed by a FastAPI service. A case file or pasted text is extracted, cleaned, split into legal-aware chunks, embedded and stored in a FAISS index.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answered by retrieving the most similar chunks (RAG), adding conversation memory (CAG) and asking a local Ollama LLM. A separate endpoint returns a structured JSON legal analysis.</a:t>
            </a:r>
            <a:endParaRPr lang="en-US" sz="1600" dirty="0"/>
          </a:p>
        </p:txBody>
      </p:sp>
      <p:sp>
        <p:nvSpPr>
          <p:cNvPr id="7" name="Key Message Box"/>
          <p:cNvSpPr/>
          <p:nvPr/>
        </p:nvSpPr>
        <p:spPr>
          <a:xfrm>
            <a:off x="576072" y="5394960"/>
            <a:ext cx="11036808" cy="868680"/>
          </a:xfrm>
          <a:prstGeom prst="roundRect">
            <a:avLst>
              <a:gd name="adj" fmla="val 5263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8" name="Key Message"/>
          <p:cNvSpPr txBox="1"/>
          <p:nvPr/>
        </p:nvSpPr>
        <p:spPr>
          <a:xfrm>
            <a:off x="576072" y="5394960"/>
            <a:ext cx="11036808" cy="868680"/>
          </a:xfrm>
          <a:prstGeom prst="rect">
            <a:avLst/>
          </a:prstGeom>
          <a:noFill/>
          <a:ln/>
        </p:spPr>
        <p:txBody>
          <a:bodyPr wrap="square" lIns="50800" tIns="177800" rIns="177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processing, document-grounded answers, lawyer-verified output.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Architecture: Fixed Pipeline, Local LLM</a:t>
            </a:r>
            <a:endParaRPr lang="en-US" sz="2400" dirty="0"/>
          </a:p>
        </p:txBody>
      </p:sp>
      <p:sp>
        <p:nvSpPr>
          <p:cNvPr id="3" name="Diagram Panel"/>
          <p:cNvSpPr/>
          <p:nvPr/>
        </p:nvSpPr>
        <p:spPr>
          <a:xfrm>
            <a:off x="630936" y="1444752"/>
            <a:ext cx="10927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Group 1"/>
          <p:cNvSpPr/>
          <p:nvPr/>
        </p:nvSpPr>
        <p:spPr>
          <a:xfrm>
            <a:off x="768096" y="1554480"/>
            <a:ext cx="1920240" cy="3154680"/>
          </a:xfrm>
          <a:prstGeom prst="rect">
            <a:avLst/>
          </a:prstGeom>
          <a:solidFill>
            <a:srgbClr val="F9EBFC"/>
          </a:solidFill>
          <a:ln w="12700">
            <a:solidFill>
              <a:srgbClr val="E3B5F0"/>
            </a:solidFill>
            <a:prstDash val="solid"/>
          </a:ln>
        </p:spPr>
      </p:sp>
      <p:sp>
        <p:nvSpPr>
          <p:cNvPr id="5" name="Group Label 1"/>
          <p:cNvSpPr txBox="1"/>
          <p:nvPr/>
        </p:nvSpPr>
        <p:spPr>
          <a:xfrm>
            <a:off x="768096" y="1591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Client Input</a:t>
            </a:r>
            <a:endParaRPr lang="en-US" sz="1050" dirty="0"/>
          </a:p>
        </p:txBody>
      </p:sp>
      <p:sp>
        <p:nvSpPr>
          <p:cNvPr id="6" name="Box 1.1"/>
          <p:cNvSpPr/>
          <p:nvPr/>
        </p:nvSpPr>
        <p:spPr>
          <a:xfrm>
            <a:off x="859536" y="1938528"/>
            <a:ext cx="1737360" cy="1275588"/>
          </a:xfrm>
          <a:prstGeom prst="rect">
            <a:avLst/>
          </a:prstGeom>
          <a:solidFill>
            <a:srgbClr val="D5E5FA"/>
          </a:solidFill>
          <a:ln w="15875">
            <a:solidFill>
              <a:srgbClr val="3C6FD6"/>
            </a:solidFill>
            <a:prstDash val="solid"/>
          </a:ln>
        </p:spPr>
      </p:sp>
      <p:sp>
        <p:nvSpPr>
          <p:cNvPr id="7" name="Box Text 1.1"/>
          <p:cNvSpPr txBox="1"/>
          <p:nvPr/>
        </p:nvSpPr>
        <p:spPr>
          <a:xfrm>
            <a:off x="859536" y="1938528"/>
            <a:ext cx="1737360" cy="12755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index.html: Chat, Analysis and Laws tabs call the REST API</a:t>
            </a:r>
            <a:endParaRPr lang="en-US" sz="1000" dirty="0"/>
          </a:p>
        </p:txBody>
      </p:sp>
      <p:sp>
        <p:nvSpPr>
          <p:cNvPr id="8" name="Box 1.2"/>
          <p:cNvSpPr/>
          <p:nvPr/>
        </p:nvSpPr>
        <p:spPr>
          <a:xfrm>
            <a:off x="859536" y="3342132"/>
            <a:ext cx="1737360" cy="1275588"/>
          </a:xfrm>
          <a:prstGeom prst="rect">
            <a:avLst/>
          </a:prstGeom>
          <a:solidFill>
            <a:srgbClr val="D5E5FA"/>
          </a:solidFill>
          <a:ln w="15875">
            <a:solidFill>
              <a:srgbClr val="3C6FD6"/>
            </a:solidFill>
            <a:prstDash val="solid"/>
          </a:ln>
        </p:spPr>
      </p:sp>
      <p:sp>
        <p:nvSpPr>
          <p:cNvPr id="9" name="Box Text 1.2"/>
          <p:cNvSpPr txBox="1"/>
          <p:nvPr/>
        </p:nvSpPr>
        <p:spPr>
          <a:xfrm>
            <a:off x="859536" y="3342132"/>
            <a:ext cx="1737360" cy="12755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PDF / DOCX / TXT or paste case text; ask questions</a:t>
            </a:r>
            <a:endParaRPr lang="en-US" sz="1000" dirty="0"/>
          </a:p>
        </p:txBody>
      </p:sp>
      <p:sp>
        <p:nvSpPr>
          <p:cNvPr id="10" name="Arrow 1"/>
          <p:cNvSpPr/>
          <p:nvPr/>
        </p:nvSpPr>
        <p:spPr>
          <a:xfrm>
            <a:off x="2697480" y="3131820"/>
            <a:ext cx="256032" cy="0"/>
          </a:xfrm>
          <a:prstGeom prst="line">
            <a:avLst/>
          </a:prstGeom>
          <a:noFill/>
          <a:ln w="19050">
            <a:solidFill>
              <a:srgbClr val="2B2B3A"/>
            </a:solidFill>
            <a:prstDash val="solid"/>
            <a:tailEnd type="triangle"/>
          </a:ln>
        </p:spPr>
      </p:sp>
      <p:sp>
        <p:nvSpPr>
          <p:cNvPr id="11" name="Group 2"/>
          <p:cNvSpPr/>
          <p:nvPr/>
        </p:nvSpPr>
        <p:spPr>
          <a:xfrm>
            <a:off x="2962656" y="1554480"/>
            <a:ext cx="1920240" cy="3154680"/>
          </a:xfrm>
          <a:prstGeom prst="rect">
            <a:avLst/>
          </a:prstGeom>
          <a:solidFill>
            <a:srgbClr val="E6F6F1"/>
          </a:solidFill>
          <a:ln w="12700">
            <a:solidFill>
              <a:srgbClr val="7FD3B5"/>
            </a:solidFill>
            <a:prstDash val="solid"/>
          </a:ln>
        </p:spPr>
      </p:sp>
      <p:sp>
        <p:nvSpPr>
          <p:cNvPr id="12" name="Group Label 2"/>
          <p:cNvSpPr txBox="1"/>
          <p:nvPr/>
        </p:nvSpPr>
        <p:spPr>
          <a:xfrm>
            <a:off x="2962656" y="1591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Ingestion</a:t>
            </a:r>
            <a:endParaRPr lang="en-US" sz="1050" dirty="0"/>
          </a:p>
        </p:txBody>
      </p:sp>
      <p:sp>
        <p:nvSpPr>
          <p:cNvPr id="13" name="Box 2.1"/>
          <p:cNvSpPr/>
          <p:nvPr/>
        </p:nvSpPr>
        <p:spPr>
          <a:xfrm>
            <a:off x="3054096" y="1938528"/>
            <a:ext cx="1737360" cy="601218"/>
          </a:xfrm>
          <a:prstGeom prst="rect">
            <a:avLst/>
          </a:prstGeom>
          <a:solidFill>
            <a:srgbClr val="E8E0F7"/>
          </a:solidFill>
          <a:ln w="15875">
            <a:solidFill>
              <a:srgbClr val="7B4FD6"/>
            </a:solidFill>
            <a:prstDash val="solid"/>
          </a:ln>
        </p:spPr>
      </p:sp>
      <p:sp>
        <p:nvSpPr>
          <p:cNvPr id="14" name="Box Text 2.1"/>
          <p:cNvSpPr txBox="1"/>
          <p:nvPr/>
        </p:nvSpPr>
        <p:spPr>
          <a:xfrm>
            <a:off x="3054096" y="1938528"/>
            <a:ext cx="1737360" cy="6012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Extract + clean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pdfplumber, python-docx</a:t>
            </a:r>
            <a:endParaRPr lang="en-US" sz="1000" dirty="0"/>
          </a:p>
        </p:txBody>
      </p:sp>
      <p:sp>
        <p:nvSpPr>
          <p:cNvPr id="15" name="Box 2.2"/>
          <p:cNvSpPr/>
          <p:nvPr/>
        </p:nvSpPr>
        <p:spPr>
          <a:xfrm>
            <a:off x="3054096" y="2631186"/>
            <a:ext cx="1737360" cy="601218"/>
          </a:xfrm>
          <a:prstGeom prst="rect">
            <a:avLst/>
          </a:prstGeom>
          <a:solidFill>
            <a:srgbClr val="E8E0F7"/>
          </a:solidFill>
          <a:ln w="15875">
            <a:solidFill>
              <a:srgbClr val="7B4FD6"/>
            </a:solidFill>
            <a:prstDash val="solid"/>
          </a:ln>
        </p:spPr>
      </p:sp>
      <p:sp>
        <p:nvSpPr>
          <p:cNvPr id="16" name="Box Text 2.2"/>
          <p:cNvSpPr txBox="1"/>
          <p:nvPr/>
        </p:nvSpPr>
        <p:spPr>
          <a:xfrm>
            <a:off x="3054096" y="2631186"/>
            <a:ext cx="1737360" cy="6012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Legal-aware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section, paragraph, sliding window (800 / 150)</a:t>
            </a:r>
            <a:endParaRPr lang="en-US" sz="1000" dirty="0"/>
          </a:p>
        </p:txBody>
      </p:sp>
      <p:sp>
        <p:nvSpPr>
          <p:cNvPr id="17" name="Box 2.3"/>
          <p:cNvSpPr/>
          <p:nvPr/>
        </p:nvSpPr>
        <p:spPr>
          <a:xfrm>
            <a:off x="3054096" y="3323844"/>
            <a:ext cx="1737360" cy="601218"/>
          </a:xfrm>
          <a:prstGeom prst="rect">
            <a:avLst/>
          </a:prstGeom>
          <a:solidFill>
            <a:srgbClr val="E8E0F7"/>
          </a:solidFill>
          <a:ln w="15875">
            <a:solidFill>
              <a:srgbClr val="7B4FD6"/>
            </a:solidFill>
            <a:prstDash val="solid"/>
          </a:ln>
        </p:spPr>
      </p:sp>
      <p:sp>
        <p:nvSpPr>
          <p:cNvPr id="18" name="Box Text 2.3"/>
          <p:cNvSpPr txBox="1"/>
          <p:nvPr/>
        </p:nvSpPr>
        <p:spPr>
          <a:xfrm>
            <a:off x="3054096" y="3323844"/>
            <a:ext cx="1737360" cy="6012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Embeddings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all-MiniLM-L6-v2, 384-d</a:t>
            </a:r>
            <a:endParaRPr lang="en-US" sz="1000" dirty="0"/>
          </a:p>
        </p:txBody>
      </p:sp>
      <p:sp>
        <p:nvSpPr>
          <p:cNvPr id="19" name="Box 2.4"/>
          <p:cNvSpPr/>
          <p:nvPr/>
        </p:nvSpPr>
        <p:spPr>
          <a:xfrm>
            <a:off x="3054096" y="4016502"/>
            <a:ext cx="1737360" cy="601218"/>
          </a:xfrm>
          <a:prstGeom prst="rect">
            <a:avLst/>
          </a:prstGeom>
          <a:solidFill>
            <a:srgbClr val="E8E0F7"/>
          </a:solidFill>
          <a:ln w="15875">
            <a:solidFill>
              <a:srgbClr val="7B4FD6"/>
            </a:solidFill>
            <a:prstDash val="solid"/>
          </a:ln>
        </p:spPr>
      </p:sp>
      <p:sp>
        <p:nvSpPr>
          <p:cNvPr id="20" name="Box Text 2.4"/>
          <p:cNvSpPr txBox="1"/>
          <p:nvPr/>
        </p:nvSpPr>
        <p:spPr>
          <a:xfrm>
            <a:off x="3054096" y="4016502"/>
            <a:ext cx="1737360" cy="6012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FAISS store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IndexFlatL2 + metadata</a:t>
            </a:r>
            <a:endParaRPr lang="en-US" sz="1000" dirty="0"/>
          </a:p>
        </p:txBody>
      </p:sp>
      <p:sp>
        <p:nvSpPr>
          <p:cNvPr id="21" name="Arrow 2"/>
          <p:cNvSpPr/>
          <p:nvPr/>
        </p:nvSpPr>
        <p:spPr>
          <a:xfrm>
            <a:off x="4892040" y="3131820"/>
            <a:ext cx="256032" cy="0"/>
          </a:xfrm>
          <a:prstGeom prst="line">
            <a:avLst/>
          </a:prstGeom>
          <a:noFill/>
          <a:ln w="19050">
            <a:solidFill>
              <a:srgbClr val="2B2B3A"/>
            </a:solidFill>
            <a:prstDash val="solid"/>
            <a:tailEnd type="triangle"/>
          </a:ln>
        </p:spPr>
      </p:sp>
      <p:sp>
        <p:nvSpPr>
          <p:cNvPr id="22" name="Group 3"/>
          <p:cNvSpPr/>
          <p:nvPr/>
        </p:nvSpPr>
        <p:spPr>
          <a:xfrm>
            <a:off x="5157216" y="1554480"/>
            <a:ext cx="1920240" cy="3154680"/>
          </a:xfrm>
          <a:prstGeom prst="rect">
            <a:avLst/>
          </a:prstGeom>
          <a:solidFill>
            <a:srgbClr val="FEF1E3"/>
          </a:solidFill>
          <a:ln w="12700">
            <a:solidFill>
              <a:srgbClr val="F0B27A"/>
            </a:solidFill>
            <a:prstDash val="solid"/>
          </a:ln>
        </p:spPr>
      </p:sp>
      <p:sp>
        <p:nvSpPr>
          <p:cNvPr id="23" name="Group Label 3"/>
          <p:cNvSpPr txBox="1"/>
          <p:nvPr/>
        </p:nvSpPr>
        <p:spPr>
          <a:xfrm>
            <a:off x="5157216" y="1591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Retrieval</a:t>
            </a:r>
            <a:endParaRPr lang="en-US" sz="1050" dirty="0"/>
          </a:p>
        </p:txBody>
      </p:sp>
      <p:sp>
        <p:nvSpPr>
          <p:cNvPr id="24" name="Box 3.1"/>
          <p:cNvSpPr/>
          <p:nvPr/>
        </p:nvSpPr>
        <p:spPr>
          <a:xfrm>
            <a:off x="5248656" y="1938528"/>
            <a:ext cx="1737360" cy="807720"/>
          </a:xfrm>
          <a:prstGeom prst="rect">
            <a:avLst/>
          </a:prstGeom>
          <a:solidFill>
            <a:srgbClr val="DDF3E6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5" name="Box Text 3.1"/>
          <p:cNvSpPr txBox="1"/>
          <p:nvPr/>
        </p:nvSpPr>
        <p:spPr>
          <a:xfrm>
            <a:off x="5248656" y="1938528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embedding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MiniLM model</a:t>
            </a:r>
            <a:endParaRPr lang="en-US" sz="1000" dirty="0"/>
          </a:p>
        </p:txBody>
      </p:sp>
      <p:sp>
        <p:nvSpPr>
          <p:cNvPr id="26" name="Box 3.2"/>
          <p:cNvSpPr/>
          <p:nvPr/>
        </p:nvSpPr>
        <p:spPr>
          <a:xfrm>
            <a:off x="5248656" y="2874264"/>
            <a:ext cx="1737360" cy="807720"/>
          </a:xfrm>
          <a:prstGeom prst="rect">
            <a:avLst/>
          </a:prstGeom>
          <a:solidFill>
            <a:srgbClr val="DDF3E6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7" name="Box Text 3.2"/>
          <p:cNvSpPr txBox="1"/>
          <p:nvPr/>
        </p:nvSpPr>
        <p:spPr>
          <a:xfrm>
            <a:off x="5248656" y="2874264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chunks, distance &lt;= 1.8</a:t>
            </a:r>
            <a:endParaRPr lang="en-US" sz="1000" dirty="0"/>
          </a:p>
        </p:txBody>
      </p:sp>
      <p:sp>
        <p:nvSpPr>
          <p:cNvPr id="28" name="Box 3.3"/>
          <p:cNvSpPr/>
          <p:nvPr/>
        </p:nvSpPr>
        <p:spPr>
          <a:xfrm>
            <a:off x="5248656" y="3810000"/>
            <a:ext cx="1737360" cy="807720"/>
          </a:xfrm>
          <a:prstGeom prst="rect">
            <a:avLst/>
          </a:prstGeom>
          <a:solidFill>
            <a:srgbClr val="DDF3E6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9" name="Box Text 3.3"/>
          <p:cNvSpPr txBox="1"/>
          <p:nvPr/>
        </p:nvSpPr>
        <p:spPr>
          <a:xfrm>
            <a:off x="5248656" y="3810000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 memory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window of 12 pairs + compressed history</a:t>
            </a:r>
            <a:endParaRPr lang="en-US" sz="1000" dirty="0"/>
          </a:p>
        </p:txBody>
      </p:sp>
      <p:sp>
        <p:nvSpPr>
          <p:cNvPr id="30" name="Arrow 3"/>
          <p:cNvSpPr/>
          <p:nvPr/>
        </p:nvSpPr>
        <p:spPr>
          <a:xfrm>
            <a:off x="7086600" y="3131820"/>
            <a:ext cx="256032" cy="0"/>
          </a:xfrm>
          <a:prstGeom prst="line">
            <a:avLst/>
          </a:prstGeom>
          <a:noFill/>
          <a:ln w="19050">
            <a:solidFill>
              <a:srgbClr val="2B2B3A"/>
            </a:solidFill>
            <a:prstDash val="solid"/>
            <a:tailEnd type="triangle"/>
          </a:ln>
        </p:spPr>
      </p:sp>
      <p:sp>
        <p:nvSpPr>
          <p:cNvPr id="31" name="Group 4"/>
          <p:cNvSpPr/>
          <p:nvPr/>
        </p:nvSpPr>
        <p:spPr>
          <a:xfrm>
            <a:off x="7351776" y="1554480"/>
            <a:ext cx="1920240" cy="3154680"/>
          </a:xfrm>
          <a:prstGeom prst="rect">
            <a:avLst/>
          </a:prstGeom>
          <a:solidFill>
            <a:srgbClr val="E3F5FB"/>
          </a:solidFill>
          <a:ln w="12700">
            <a:solidFill>
              <a:srgbClr val="7CCBE3"/>
            </a:solidFill>
            <a:prstDash val="solid"/>
          </a:ln>
        </p:spPr>
      </p:sp>
      <p:sp>
        <p:nvSpPr>
          <p:cNvPr id="32" name="Group Label 4"/>
          <p:cNvSpPr txBox="1"/>
          <p:nvPr/>
        </p:nvSpPr>
        <p:spPr>
          <a:xfrm>
            <a:off x="7351776" y="1591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Generation</a:t>
            </a:r>
            <a:endParaRPr lang="en-US" sz="1050" dirty="0"/>
          </a:p>
        </p:txBody>
      </p:sp>
      <p:sp>
        <p:nvSpPr>
          <p:cNvPr id="33" name="Box 4.1"/>
          <p:cNvSpPr/>
          <p:nvPr/>
        </p:nvSpPr>
        <p:spPr>
          <a:xfrm>
            <a:off x="7443216" y="1938528"/>
            <a:ext cx="1737360" cy="807720"/>
          </a:xfrm>
          <a:prstGeom prst="rect">
            <a:avLst/>
          </a:prstGeom>
          <a:solidFill>
            <a:srgbClr val="FAE0E0"/>
          </a:solidFill>
          <a:ln w="15875">
            <a:solidFill>
              <a:srgbClr val="D94040"/>
            </a:solidFill>
            <a:prstDash val="solid"/>
          </a:ln>
        </p:spPr>
      </p:sp>
      <p:sp>
        <p:nvSpPr>
          <p:cNvPr id="34" name="Box Text 4.1"/>
          <p:cNvSpPr txBox="1"/>
          <p:nvPr/>
        </p:nvSpPr>
        <p:spPr>
          <a:xfrm>
            <a:off x="7443216" y="1938528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history + question + system prompt</a:t>
            </a:r>
            <a:endParaRPr lang="en-US" sz="1000" dirty="0"/>
          </a:p>
        </p:txBody>
      </p:sp>
      <p:sp>
        <p:nvSpPr>
          <p:cNvPr id="35" name="Box 4.2"/>
          <p:cNvSpPr/>
          <p:nvPr/>
        </p:nvSpPr>
        <p:spPr>
          <a:xfrm>
            <a:off x="7443216" y="2874264"/>
            <a:ext cx="1737360" cy="807720"/>
          </a:xfrm>
          <a:prstGeom prst="rect">
            <a:avLst/>
          </a:prstGeom>
          <a:solidFill>
            <a:srgbClr val="FAE0E0"/>
          </a:solidFill>
          <a:ln w="15875">
            <a:solidFill>
              <a:srgbClr val="D94040"/>
            </a:solidFill>
            <a:prstDash val="solid"/>
          </a:ln>
        </p:spPr>
      </p:sp>
      <p:sp>
        <p:nvSpPr>
          <p:cNvPr id="36" name="Box Text 4.2"/>
          <p:cNvSpPr txBox="1"/>
          <p:nvPr/>
        </p:nvSpPr>
        <p:spPr>
          <a:xfrm>
            <a:off x="7443216" y="2874264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LLM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llama3, local, temperature 0.1</a:t>
            </a:r>
            <a:endParaRPr lang="en-US" sz="1000" dirty="0"/>
          </a:p>
        </p:txBody>
      </p:sp>
      <p:sp>
        <p:nvSpPr>
          <p:cNvPr id="37" name="Box 4.3"/>
          <p:cNvSpPr/>
          <p:nvPr/>
        </p:nvSpPr>
        <p:spPr>
          <a:xfrm>
            <a:off x="7443216" y="3810000"/>
            <a:ext cx="1737360" cy="807720"/>
          </a:xfrm>
          <a:prstGeom prst="rect">
            <a:avLst/>
          </a:prstGeom>
          <a:solidFill>
            <a:srgbClr val="FAE0E0"/>
          </a:solidFill>
          <a:ln w="15875">
            <a:solidFill>
              <a:srgbClr val="D94040"/>
            </a:solidFill>
            <a:prstDash val="solid"/>
          </a:ln>
        </p:spPr>
      </p:sp>
      <p:sp>
        <p:nvSpPr>
          <p:cNvPr id="38" name="Box Text 4.3"/>
          <p:cNvSpPr txBox="1"/>
          <p:nvPr/>
        </p:nvSpPr>
        <p:spPr>
          <a:xfrm>
            <a:off x="7443216" y="3810000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analyzer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/analyze, one call, temperature 0.05</a:t>
            </a:r>
            <a:endParaRPr lang="en-US" sz="1000" dirty="0"/>
          </a:p>
        </p:txBody>
      </p:sp>
      <p:sp>
        <p:nvSpPr>
          <p:cNvPr id="39" name="Arrow 4"/>
          <p:cNvSpPr/>
          <p:nvPr/>
        </p:nvSpPr>
        <p:spPr>
          <a:xfrm>
            <a:off x="9281160" y="3131820"/>
            <a:ext cx="256032" cy="0"/>
          </a:xfrm>
          <a:prstGeom prst="line">
            <a:avLst/>
          </a:prstGeom>
          <a:noFill/>
          <a:ln w="19050">
            <a:solidFill>
              <a:srgbClr val="2B2B3A"/>
            </a:solidFill>
            <a:prstDash val="solid"/>
            <a:tailEnd type="triangle"/>
          </a:ln>
        </p:spPr>
      </p:sp>
      <p:sp>
        <p:nvSpPr>
          <p:cNvPr id="40" name="Group 5"/>
          <p:cNvSpPr/>
          <p:nvPr/>
        </p:nvSpPr>
        <p:spPr>
          <a:xfrm>
            <a:off x="9546336" y="1554480"/>
            <a:ext cx="1920240" cy="3154680"/>
          </a:xfrm>
          <a:prstGeom prst="rect">
            <a:avLst/>
          </a:prstGeom>
          <a:solidFill>
            <a:srgbClr val="EAF8EA"/>
          </a:solidFill>
          <a:ln w="12700">
            <a:solidFill>
              <a:srgbClr val="8FD28F"/>
            </a:solidFill>
            <a:prstDash val="solid"/>
          </a:ln>
        </p:spPr>
      </p:sp>
      <p:sp>
        <p:nvSpPr>
          <p:cNvPr id="41" name="Group Label 5"/>
          <p:cNvSpPr txBox="1"/>
          <p:nvPr/>
        </p:nvSpPr>
        <p:spPr>
          <a:xfrm>
            <a:off x="9546336" y="1591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Result</a:t>
            </a:r>
            <a:endParaRPr lang="en-US" sz="1050" dirty="0"/>
          </a:p>
        </p:txBody>
      </p:sp>
      <p:sp>
        <p:nvSpPr>
          <p:cNvPr id="42" name="Box 5.1"/>
          <p:cNvSpPr/>
          <p:nvPr/>
        </p:nvSpPr>
        <p:spPr>
          <a:xfrm>
            <a:off x="9637776" y="1938528"/>
            <a:ext cx="1737360" cy="807720"/>
          </a:xfrm>
          <a:prstGeom prst="rect">
            <a:avLst/>
          </a:prstGeom>
          <a:solidFill>
            <a:srgbClr val="FCEFC8"/>
          </a:solidFill>
          <a:ln w="15875">
            <a:solidFill>
              <a:srgbClr val="E0902B"/>
            </a:solidFill>
            <a:prstDash val="solid"/>
          </a:ln>
        </p:spPr>
      </p:sp>
      <p:sp>
        <p:nvSpPr>
          <p:cNvPr id="43" name="Box Text 5.1"/>
          <p:cNvSpPr txBox="1"/>
          <p:nvPr/>
        </p:nvSpPr>
        <p:spPr>
          <a:xfrm>
            <a:off x="9637776" y="1938528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with distinct source names</a:t>
            </a:r>
            <a:endParaRPr lang="en-US" sz="1000" dirty="0"/>
          </a:p>
        </p:txBody>
      </p:sp>
      <p:sp>
        <p:nvSpPr>
          <p:cNvPr id="44" name="Box 5.2"/>
          <p:cNvSpPr/>
          <p:nvPr/>
        </p:nvSpPr>
        <p:spPr>
          <a:xfrm>
            <a:off x="9637776" y="2874264"/>
            <a:ext cx="1737360" cy="807720"/>
          </a:xfrm>
          <a:prstGeom prst="rect">
            <a:avLst/>
          </a:prstGeom>
          <a:solidFill>
            <a:srgbClr val="FCEFC8"/>
          </a:solidFill>
          <a:ln w="15875">
            <a:solidFill>
              <a:srgbClr val="E0902B"/>
            </a:solidFill>
            <a:prstDash val="solid"/>
          </a:ln>
        </p:spPr>
      </p:sp>
      <p:sp>
        <p:nvSpPr>
          <p:cNvPr id="45" name="Box Text 5.2"/>
          <p:cNvSpPr txBox="1"/>
          <p:nvPr/>
        </p:nvSpPr>
        <p:spPr>
          <a:xfrm>
            <a:off x="9637776" y="2874264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JSON: summary, facts, issues, laws, risks, next steps</a:t>
            </a:r>
            <a:endParaRPr lang="en-US" sz="1000" dirty="0"/>
          </a:p>
        </p:txBody>
      </p:sp>
      <p:sp>
        <p:nvSpPr>
          <p:cNvPr id="46" name="Box 5.3"/>
          <p:cNvSpPr/>
          <p:nvPr/>
        </p:nvSpPr>
        <p:spPr>
          <a:xfrm>
            <a:off x="9637776" y="3810000"/>
            <a:ext cx="1737360" cy="807720"/>
          </a:xfrm>
          <a:prstGeom prst="rect">
            <a:avLst/>
          </a:prstGeom>
          <a:solidFill>
            <a:srgbClr val="FCEFC8"/>
          </a:solidFill>
          <a:ln w="15875">
            <a:solidFill>
              <a:srgbClr val="E0902B"/>
            </a:solidFill>
            <a:prstDash val="solid"/>
          </a:ln>
        </p:spPr>
      </p:sp>
      <p:sp>
        <p:nvSpPr>
          <p:cNvPr id="47" name="Box Text 5.3"/>
          <p:cNvSpPr txBox="1"/>
          <p:nvPr/>
        </p:nvSpPr>
        <p:spPr>
          <a:xfrm>
            <a:off x="9637776" y="3810000"/>
            <a:ext cx="1737360" cy="807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the Chat and Analysis tabs</a:t>
            </a:r>
            <a:endParaRPr lang="en-US" sz="1000" dirty="0"/>
          </a:p>
        </p:txBody>
      </p:sp>
      <p:sp>
        <p:nvSpPr>
          <p:cNvPr id="48" name="Storage Note"/>
          <p:cNvSpPr txBox="1"/>
          <p:nvPr/>
        </p:nvSpPr>
        <p:spPr>
          <a:xfrm>
            <a:off x="768096" y="4800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5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on disk: faiss_index/ (index.faiss + metadata.json) and uploads/.   In RAM only: CAG conversation memory and case context.</a:t>
            </a:r>
            <a:endParaRPr lang="en-US" sz="1000" dirty="0"/>
          </a:p>
        </p:txBody>
      </p:sp>
      <p:sp>
        <p:nvSpPr>
          <p:cNvPr id="49" name="Architecture Message Box"/>
          <p:cNvSpPr/>
          <p:nvPr/>
        </p:nvSpPr>
        <p:spPr>
          <a:xfrm>
            <a:off x="640080" y="5440680"/>
            <a:ext cx="10927080" cy="868680"/>
          </a:xfrm>
          <a:prstGeom prst="roundRect">
            <a:avLst>
              <a:gd name="adj" fmla="val 5263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50" name="Architecture Message"/>
          <p:cNvSpPr txBox="1"/>
          <p:nvPr/>
        </p:nvSpPr>
        <p:spPr>
          <a:xfrm>
            <a:off x="640080" y="5440680"/>
            <a:ext cx="10927080" cy="868680"/>
          </a:xfrm>
          <a:prstGeom prst="rect">
            <a:avLst/>
          </a:prstGeom>
          <a:noFill/>
          <a:ln/>
        </p:spPr>
        <p:txBody>
          <a:bodyPr wrap="square" lIns="50800" tIns="177800" rIns="177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FastAPI service orchestrates a fixed-order pipeline around a local LLM.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planner or tool-calling: modules interact through direct function calls and shared singletons.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Workflow: From Case File to Grounded Answer</a:t>
            </a:r>
            <a:endParaRPr lang="en-US" sz="2400" dirty="0"/>
          </a:p>
        </p:txBody>
      </p:sp>
      <p:sp>
        <p:nvSpPr>
          <p:cNvPr id="3" name="Start Box"/>
          <p:cNvSpPr/>
          <p:nvPr/>
        </p:nvSpPr>
        <p:spPr>
          <a:xfrm>
            <a:off x="374904" y="1600200"/>
            <a:ext cx="2606040" cy="1188720"/>
          </a:xfrm>
          <a:prstGeom prst="roundRect">
            <a:avLst>
              <a:gd name="adj" fmla="val 3846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Start"/>
          <p:cNvSpPr txBox="1"/>
          <p:nvPr/>
        </p:nvSpPr>
        <p:spPr>
          <a:xfrm>
            <a:off x="374904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 or pasted text received</a:t>
            </a:r>
            <a:endParaRPr lang="en-US" sz="1500" dirty="0"/>
          </a:p>
        </p:txBody>
      </p:sp>
      <p:sp>
        <p:nvSpPr>
          <p:cNvPr id="5" name="Extraction Box"/>
          <p:cNvSpPr/>
          <p:nvPr/>
        </p:nvSpPr>
        <p:spPr>
          <a:xfrm>
            <a:off x="3236976" y="1600200"/>
            <a:ext cx="2606040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6" name="Extraction"/>
          <p:cNvSpPr txBox="1"/>
          <p:nvPr/>
        </p:nvSpPr>
        <p:spPr>
          <a:xfrm>
            <a:off x="3236976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Extraction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 (PyPDF2 fallback), python-docx; clean_text()</a:t>
            </a:r>
            <a:endParaRPr lang="en-US" sz="1500" dirty="0"/>
          </a:p>
        </p:txBody>
      </p:sp>
      <p:sp>
        <p:nvSpPr>
          <p:cNvPr id="7" name="Chunking Box"/>
          <p:cNvSpPr/>
          <p:nvPr/>
        </p:nvSpPr>
        <p:spPr>
          <a:xfrm>
            <a:off x="6108192" y="1600200"/>
            <a:ext cx="2606040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8" name="Chunking"/>
          <p:cNvSpPr txBox="1"/>
          <p:nvPr/>
        </p:nvSpPr>
        <p:spPr>
          <a:xfrm>
            <a:off x="6108192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Legal-Aware Chunking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Section, paragraph, sliding window (800 / 150)</a:t>
            </a:r>
            <a:endParaRPr lang="en-US" sz="1500" dirty="0"/>
          </a:p>
        </p:txBody>
      </p:sp>
      <p:sp>
        <p:nvSpPr>
          <p:cNvPr id="9" name="Index Box"/>
          <p:cNvSpPr/>
          <p:nvPr/>
        </p:nvSpPr>
        <p:spPr>
          <a:xfrm>
            <a:off x="8961120" y="1600200"/>
            <a:ext cx="2715768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10" name="Index"/>
          <p:cNvSpPr txBox="1"/>
          <p:nvPr/>
        </p:nvSpPr>
        <p:spPr>
          <a:xfrm>
            <a:off x="8961120" y="1600200"/>
            <a:ext cx="2715768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+ Index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384-d vectors added to FAISS and saved</a:t>
            </a:r>
            <a:endParaRPr lang="en-US" sz="1500" dirty="0"/>
          </a:p>
        </p:txBody>
      </p:sp>
      <p:sp>
        <p:nvSpPr>
          <p:cNvPr id="11" name="Retrieval Box"/>
          <p:cNvSpPr/>
          <p:nvPr/>
        </p:nvSpPr>
        <p:spPr>
          <a:xfrm>
            <a:off x="758952" y="3017520"/>
            <a:ext cx="3383280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12" name="Retrieval"/>
          <p:cNvSpPr txBox="1"/>
          <p:nvPr/>
        </p:nvSpPr>
        <p:spPr>
          <a:xfrm>
            <a:off x="758952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embedded; top-5 chunks kept if distance &lt;= 1.8, with source names</a:t>
            </a:r>
            <a:endParaRPr lang="en-US" sz="1500" dirty="0"/>
          </a:p>
        </p:txBody>
      </p:sp>
      <p:sp>
        <p:nvSpPr>
          <p:cNvPr id="13" name="Memory Box"/>
          <p:cNvSpPr/>
          <p:nvPr/>
        </p:nvSpPr>
        <p:spPr>
          <a:xfrm>
            <a:off x="4416552" y="3017520"/>
            <a:ext cx="3383280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14" name="Memory"/>
          <p:cNvSpPr txBox="1"/>
          <p:nvPr/>
        </p:nvSpPr>
        <p:spPr>
          <a:xfrm>
            <a:off x="4416552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 Memory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window of 12 pairs; older half compressed to a text summary</a:t>
            </a:r>
            <a:endParaRPr lang="en-US" sz="1500" dirty="0"/>
          </a:p>
        </p:txBody>
      </p:sp>
      <p:sp>
        <p:nvSpPr>
          <p:cNvPr id="15" name="Generation Box"/>
          <p:cNvSpPr/>
          <p:nvPr/>
        </p:nvSpPr>
        <p:spPr>
          <a:xfrm>
            <a:off x="8074152" y="3017520"/>
            <a:ext cx="3383280" cy="1188720"/>
          </a:xfrm>
          <a:prstGeom prst="roundRect">
            <a:avLst>
              <a:gd name="adj" fmla="val 3846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16" name="Generation"/>
          <p:cNvSpPr txBox="1"/>
          <p:nvPr/>
        </p:nvSpPr>
        <p:spPr>
          <a:xfrm>
            <a:off x="8074152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Ollama (llama3) answers using only the retrieved context</a:t>
            </a:r>
            <a:endParaRPr lang="en-US" sz="1500" dirty="0"/>
          </a:p>
        </p:txBody>
      </p:sp>
      <p:sp>
        <p:nvSpPr>
          <p:cNvPr id="17" name="End Box"/>
          <p:cNvSpPr/>
          <p:nvPr/>
        </p:nvSpPr>
        <p:spPr>
          <a:xfrm>
            <a:off x="4315968" y="4434840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18" name="End"/>
          <p:cNvSpPr txBox="1"/>
          <p:nvPr/>
        </p:nvSpPr>
        <p:spPr>
          <a:xfrm>
            <a:off x="4315968" y="4434840"/>
            <a:ext cx="3566160" cy="868680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sources shown; /analyze returns JSON</a:t>
            </a:r>
            <a:endParaRPr lang="en-US" sz="1500" dirty="0"/>
          </a:p>
        </p:txBody>
      </p:sp>
      <p:sp>
        <p:nvSpPr>
          <p:cNvPr id="19" name="State Message Box"/>
          <p:cNvSpPr/>
          <p:nvPr/>
        </p:nvSpPr>
        <p:spPr>
          <a:xfrm>
            <a:off x="512064" y="5468112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20" name="State Message"/>
          <p:cNvSpPr txBox="1"/>
          <p:nvPr/>
        </p:nvSpPr>
        <p:spPr>
          <a:xfrm>
            <a:off x="512064" y="5468112"/>
            <a:ext cx="11155680" cy="914400"/>
          </a:xfrm>
          <a:prstGeom prst="rect">
            <a:avLst/>
          </a:prstGeom>
          <a:noFill/>
          <a:ln/>
        </p:spPr>
        <p:txBody>
          <a:bodyPr wrap="square" lIns="50800" tIns="177800" rIns="177800" bIns="508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session state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 holds the FAISS store, conversation memory and latest case text: one active case, cleared by POST /reset or a new file upload.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3" name="Left Card"/>
          <p:cNvSpPr/>
          <p:nvPr/>
        </p:nvSpPr>
        <p:spPr>
          <a:xfrm>
            <a:off x="758952" y="1554480"/>
            <a:ext cx="5394960" cy="3840480"/>
          </a:xfrm>
          <a:prstGeom prst="roundRect">
            <a:avLst>
              <a:gd name="adj" fmla="val 1190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Left Text"/>
          <p:cNvSpPr txBox="1"/>
          <p:nvPr/>
        </p:nvSpPr>
        <p:spPr>
          <a:xfrm>
            <a:off x="758952" y="1554480"/>
            <a:ext cx="5394960" cy="384048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and model layer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FastAPI 0.111 and Uvicorn 0.29 run the service. Orchestration is plain Python inside FastAPI routers; there is no agent framework.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runs the LLM locally; the default model is llama3, set through OLLAMA_MODEL (mistral suggested).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single-page frontend in HTML, CSS (Tailwind via CDN) and JavaScript calls the REST API.</a:t>
            </a:r>
            <a:endParaRPr lang="en-US" sz="1600" dirty="0"/>
          </a:p>
        </p:txBody>
      </p:sp>
      <p:sp>
        <p:nvSpPr>
          <p:cNvPr id="5" name="Right Card"/>
          <p:cNvSpPr/>
          <p:nvPr/>
        </p:nvSpPr>
        <p:spPr>
          <a:xfrm>
            <a:off x="6400800" y="1554480"/>
            <a:ext cx="5029200" cy="3840480"/>
          </a:xfrm>
          <a:prstGeom prst="roundRect">
            <a:avLst>
              <a:gd name="adj" fmla="val 1190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6" name="Right Text"/>
          <p:cNvSpPr txBox="1"/>
          <p:nvPr/>
        </p:nvSpPr>
        <p:spPr>
          <a:xfrm>
            <a:off x="6400800" y="1554480"/>
            <a:ext cx="5029200" cy="384048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and document layer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3.0.1 with all-MiniLM-L6-v2 (384-d, CPU) creates the embeddings.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(faiss-cpu 1.8) IndexFlatL2 plus JSON metadata, persisted to disk.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 (PyPDF2 fallback) and python-docx read the case files.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RAG, CAG-style rolling memory and structured JSON analysis prompts.</a:t>
            </a:r>
            <a:endParaRPr lang="en-US" sz="1600" dirty="0"/>
          </a:p>
        </p:txBody>
      </p:sp>
      <p:sp>
        <p:nvSpPr>
          <p:cNvPr id="7" name="Stack Message Box"/>
          <p:cNvSpPr/>
          <p:nvPr/>
        </p:nvSpPr>
        <p:spPr>
          <a:xfrm>
            <a:off x="758952" y="5577840"/>
            <a:ext cx="10671048" cy="731520"/>
          </a:xfrm>
          <a:prstGeom prst="roundRect">
            <a:avLst>
              <a:gd name="adj" fmla="val 6250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8" name="Stack Message"/>
          <p:cNvSpPr txBox="1"/>
          <p:nvPr/>
        </p:nvSpPr>
        <p:spPr>
          <a:xfrm>
            <a:off x="758952" y="5577840"/>
            <a:ext cx="10671048" cy="731520"/>
          </a:xfrm>
          <a:prstGeom prst="rect">
            <a:avLst/>
          </a:prstGeom>
          <a:noFill/>
          <a:ln/>
        </p:spPr>
        <p:txBody>
          <a:bodyPr wrap="square" lIns="50800" tIns="177800" rIns="177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models, plain-Python orchestration and an on-disk vector index.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Wolfly Unique</a:t>
            </a:r>
            <a:endParaRPr lang="en-US" sz="2400" dirty="0"/>
          </a:p>
        </p:txBody>
      </p:sp>
      <p:sp>
        <p:nvSpPr>
          <p:cNvPr id="3" name="Unique Card 1"/>
          <p:cNvSpPr/>
          <p:nvPr/>
        </p:nvSpPr>
        <p:spPr>
          <a:xfrm>
            <a:off x="640080" y="1600200"/>
            <a:ext cx="3118104" cy="2011680"/>
          </a:xfrm>
          <a:prstGeom prst="roundRect">
            <a:avLst>
              <a:gd name="adj" fmla="val 2273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Unique Text 1"/>
          <p:cNvSpPr txBox="1"/>
          <p:nvPr/>
        </p:nvSpPr>
        <p:spPr>
          <a:xfrm>
            <a:off x="640080" y="1600200"/>
            <a:ext cx="3118104" cy="201168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by design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text, embeddings and LLM inference stay on the local machine, with no per-request cloud LLM fees.</a:t>
            </a:r>
            <a:endParaRPr lang="en-US" sz="1500" dirty="0"/>
          </a:p>
        </p:txBody>
      </p:sp>
      <p:sp>
        <p:nvSpPr>
          <p:cNvPr id="5" name="Unique Card 2"/>
          <p:cNvSpPr/>
          <p:nvPr/>
        </p:nvSpPr>
        <p:spPr>
          <a:xfrm>
            <a:off x="4535424" y="1600200"/>
            <a:ext cx="3118104" cy="2011680"/>
          </a:xfrm>
          <a:prstGeom prst="roundRect">
            <a:avLst>
              <a:gd name="adj" fmla="val 2273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6" name="Unique Text 2"/>
          <p:cNvSpPr txBox="1"/>
          <p:nvPr/>
        </p:nvSpPr>
        <p:spPr>
          <a:xfrm>
            <a:off x="4535424" y="1600200"/>
            <a:ext cx="3118104" cy="201168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tied to the case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top-5 retrieved chunks and their source names go to the LLM, which is told to answer only from them.</a:t>
            </a:r>
            <a:endParaRPr lang="en-US" sz="1500" dirty="0"/>
          </a:p>
        </p:txBody>
      </p:sp>
      <p:sp>
        <p:nvSpPr>
          <p:cNvPr id="7" name="Unique Card 3"/>
          <p:cNvSpPr/>
          <p:nvPr/>
        </p:nvSpPr>
        <p:spPr>
          <a:xfrm>
            <a:off x="8439912" y="1600200"/>
            <a:ext cx="3118104" cy="2011680"/>
          </a:xfrm>
          <a:prstGeom prst="roundRect">
            <a:avLst>
              <a:gd name="adj" fmla="val 2273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8" name="Unique Text 3"/>
          <p:cNvSpPr txBox="1"/>
          <p:nvPr/>
        </p:nvSpPr>
        <p:spPr>
          <a:xfrm>
            <a:off x="8439912" y="1600200"/>
            <a:ext cx="3118104" cy="201168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Indian law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to BNS mapping is built into the prompts and a 17-entry Laws tab (static cards, not independently verified).</a:t>
            </a:r>
            <a:endParaRPr lang="en-US" sz="1500" dirty="0"/>
          </a:p>
        </p:txBody>
      </p:sp>
      <p:sp>
        <p:nvSpPr>
          <p:cNvPr id="9" name="Agentic Box"/>
          <p:cNvSpPr/>
          <p:nvPr/>
        </p:nvSpPr>
        <p:spPr>
          <a:xfrm>
            <a:off x="512064" y="3931920"/>
            <a:ext cx="11155680" cy="2331720"/>
          </a:xfrm>
          <a:prstGeom prst="roundRect">
            <a:avLst>
              <a:gd name="adj" fmla="val 1961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10" name="Agentic Text"/>
          <p:cNvSpPr txBox="1"/>
          <p:nvPr/>
        </p:nvSpPr>
        <p:spPr>
          <a:xfrm>
            <a:off x="512064" y="3931920"/>
            <a:ext cx="11155680" cy="233172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here is deliberately scoped.</a:t>
            </a:r>
            <a:endParaRPr lang="en-US" sz="17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combines LLM reasoning, RAG, conversation memory and a fixed pipeline coordinated by FastAPI. The LLM has no function-calling, so it cannot choose or invoke tools.</a:t>
            </a:r>
            <a:endParaRPr lang="en-US" sz="17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Proposed, not implemented: autonomous Document, Extraction and Event agents. Output is unvalidated model text, and a qualified lawyer remains responsible.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of the Solution</a:t>
            </a:r>
            <a:endParaRPr lang="en-US" sz="2400" dirty="0"/>
          </a:p>
        </p:txBody>
      </p:sp>
      <p:sp>
        <p:nvSpPr>
          <p:cNvPr id="3" name="Impact Card 1"/>
          <p:cNvSpPr/>
          <p:nvPr/>
        </p:nvSpPr>
        <p:spPr>
          <a:xfrm>
            <a:off x="694944" y="1600200"/>
            <a:ext cx="3154680" cy="2103120"/>
          </a:xfrm>
          <a:prstGeom prst="roundRect">
            <a:avLst>
              <a:gd name="adj" fmla="val 2174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Impact Text 1"/>
          <p:cNvSpPr txBox="1"/>
          <p:nvPr/>
        </p:nvSpPr>
        <p:spPr>
          <a:xfrm>
            <a:off x="694944" y="1600200"/>
            <a:ext cx="3154680" cy="210312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shorter path to first pass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extract, chunk, embed and index pipeline replaces reading and keyword search through each file.</a:t>
            </a:r>
            <a:endParaRPr lang="en-US" sz="1500" dirty="0"/>
          </a:p>
        </p:txBody>
      </p:sp>
      <p:sp>
        <p:nvSpPr>
          <p:cNvPr id="5" name="Impact Card 2"/>
          <p:cNvSpPr/>
          <p:nvPr/>
        </p:nvSpPr>
        <p:spPr>
          <a:xfrm>
            <a:off x="4517136" y="1600200"/>
            <a:ext cx="3154680" cy="2103120"/>
          </a:xfrm>
          <a:prstGeom prst="roundRect">
            <a:avLst>
              <a:gd name="adj" fmla="val 2174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6" name="Impact Text 2"/>
          <p:cNvSpPr txBox="1"/>
          <p:nvPr/>
        </p:nvSpPr>
        <p:spPr>
          <a:xfrm>
            <a:off x="4517136" y="1600200"/>
            <a:ext cx="3154680" cy="210312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fuller case view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analysis covers summary, facts, issues, laws, violations, strategies, defence points, risk and next steps.</a:t>
            </a:r>
            <a:endParaRPr lang="en-US" sz="1500" dirty="0"/>
          </a:p>
        </p:txBody>
      </p:sp>
      <p:sp>
        <p:nvSpPr>
          <p:cNvPr id="7" name="Impact Card 3"/>
          <p:cNvSpPr/>
          <p:nvPr/>
        </p:nvSpPr>
        <p:spPr>
          <a:xfrm>
            <a:off x="8339328" y="1600200"/>
            <a:ext cx="3154680" cy="2103120"/>
          </a:xfrm>
          <a:prstGeom prst="roundRect">
            <a:avLst>
              <a:gd name="adj" fmla="val 2174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8" name="Impact Text 3"/>
          <p:cNvSpPr txBox="1"/>
          <p:nvPr/>
        </p:nvSpPr>
        <p:spPr>
          <a:xfrm>
            <a:off x="8339328" y="1600200"/>
            <a:ext cx="3154680" cy="210312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across questions</a:t>
            </a:r>
            <a:endParaRPr lang="en-US" sz="15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memory keeps 12 question-answer pairs, and each answer returns with the source names it drew on.</a:t>
            </a:r>
            <a:endParaRPr lang="en-US" sz="1500" dirty="0"/>
          </a:p>
        </p:txBody>
      </p:sp>
      <p:sp>
        <p:nvSpPr>
          <p:cNvPr id="9" name="Evidence Box"/>
          <p:cNvSpPr/>
          <p:nvPr/>
        </p:nvSpPr>
        <p:spPr>
          <a:xfrm>
            <a:off x="694944" y="3977640"/>
            <a:ext cx="10799064" cy="2286000"/>
          </a:xfrm>
          <a:prstGeom prst="roundRect">
            <a:avLst>
              <a:gd name="adj" fmla="val 2000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10" name="Evidence Text"/>
          <p:cNvSpPr txBox="1"/>
          <p:nvPr/>
        </p:nvSpPr>
        <p:spPr>
          <a:xfrm>
            <a:off x="694944" y="3977640"/>
            <a:ext cx="10799064" cy="228600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build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unit-level checks passed (T1 to T12): extraction, cleaning, chunking, CAG memory, JSON parsing and truncation.</a:t>
            </a:r>
            <a:endParaRPr lang="en-US" sz="16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executed: FAISS persistence, RAG response, API endpoints, Ollama connectivity and streaming, because FastAPI, FAISS, sentence-transformers and Ollama were not available for testing.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retrieval or answer-quality metrics were measured, and the comparison with manual review is qualitative.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3840480" y="384048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56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3" name="Next Card"/>
          <p:cNvSpPr/>
          <p:nvPr/>
        </p:nvSpPr>
        <p:spPr>
          <a:xfrm>
            <a:off x="694944" y="1554480"/>
            <a:ext cx="5394960" cy="3749040"/>
          </a:xfrm>
          <a:prstGeom prst="roundRect">
            <a:avLst>
              <a:gd name="adj" fmla="val 1220"/>
            </a:avLst>
          </a:prstGeom>
          <a:solidFill>
            <a:srgbClr val="3A1F5D"/>
          </a:solidFill>
          <a:ln w="6350">
            <a:solidFill>
              <a:srgbClr val="3A1F5D"/>
            </a:solidFill>
            <a:prstDash val="solid"/>
          </a:ln>
        </p:spPr>
      </p:sp>
      <p:sp>
        <p:nvSpPr>
          <p:cNvPr id="4" name="Next Text"/>
          <p:cNvSpPr txBox="1"/>
          <p:nvPr/>
        </p:nvSpPr>
        <p:spPr>
          <a:xfrm>
            <a:off x="694944" y="1554480"/>
            <a:ext cx="5394960" cy="374904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improve next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generation: date, event and party extraction with a timeline view (Extraction and Event Understanding agents).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orchestration: a planner, tool-calling and multi-step retrieval (e.g., LangGraph, as proposed).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quality: a labelled Q&amp;A set, Recall@k and MRR, re-ranking and page-level citations.</a:t>
            </a:r>
            <a:endParaRPr lang="en-US" sz="1600" dirty="0"/>
          </a:p>
        </p:txBody>
      </p:sp>
      <p:sp>
        <p:nvSpPr>
          <p:cNvPr id="5" name="Scale Card"/>
          <p:cNvSpPr/>
          <p:nvPr/>
        </p:nvSpPr>
        <p:spPr>
          <a:xfrm>
            <a:off x="6537960" y="1554480"/>
            <a:ext cx="4937760" cy="3749040"/>
          </a:xfrm>
          <a:prstGeom prst="roundRect">
            <a:avLst>
              <a:gd name="adj" fmla="val 1220"/>
            </a:avLst>
          </a:prstGeom>
          <a:solidFill>
            <a:srgbClr val="8B6FB3"/>
          </a:solidFill>
          <a:ln w="6350">
            <a:solidFill>
              <a:srgbClr val="8B6FB3"/>
            </a:solidFill>
            <a:prstDash val="solid"/>
          </a:ln>
        </p:spPr>
      </p:sp>
      <p:sp>
        <p:nvSpPr>
          <p:cNvPr id="6" name="Scale Text"/>
          <p:cNvSpPr txBox="1"/>
          <p:nvPr/>
        </p:nvSpPr>
        <p:spPr>
          <a:xfrm>
            <a:off x="6537960" y="1554480"/>
            <a:ext cx="4937760" cy="3749040"/>
          </a:xfrm>
          <a:prstGeom prst="rect">
            <a:avLst/>
          </a:prstGeom>
          <a:noFill/>
          <a:ln/>
        </p:spPr>
        <p:txBody>
          <a:bodyPr wrap="square" lIns="127000" tIns="203200" rIns="203200" bIns="1016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scale responsibly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authentication, multi-user and multi-case storage, document-level access control and deployment.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 OCR for scanned files, multilingual text (fix ASCII-only cleaning) and real token streaming.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Trust: citation verification and a larger, verified legal knowledge base.</a:t>
            </a:r>
            <a:endParaRPr lang="en-US" sz="1600" dirty="0"/>
          </a:p>
        </p:txBody>
      </p:sp>
      <p:sp>
        <p:nvSpPr>
          <p:cNvPr id="7" name="Closing Message Box"/>
          <p:cNvSpPr/>
          <p:nvPr/>
        </p:nvSpPr>
        <p:spPr>
          <a:xfrm>
            <a:off x="694944" y="5532120"/>
            <a:ext cx="10780776" cy="777240"/>
          </a:xfrm>
          <a:prstGeom prst="roundRect">
            <a:avLst>
              <a:gd name="adj" fmla="val 5882"/>
            </a:avLst>
          </a:prstGeom>
          <a:solidFill>
            <a:srgbClr val="6E4B8A"/>
          </a:solidFill>
          <a:ln w="6350">
            <a:solidFill>
              <a:srgbClr val="6E4B8A"/>
            </a:solidFill>
            <a:prstDash val="solid"/>
          </a:ln>
        </p:spPr>
      </p:sp>
      <p:sp>
        <p:nvSpPr>
          <p:cNvPr id="8" name="Closing Message"/>
          <p:cNvSpPr txBox="1"/>
          <p:nvPr/>
        </p:nvSpPr>
        <p:spPr>
          <a:xfrm>
            <a:off x="694944" y="5532120"/>
            <a:ext cx="10780776" cy="777240"/>
          </a:xfrm>
          <a:prstGeom prst="rect">
            <a:avLst/>
          </a:prstGeom>
          <a:noFill/>
          <a:ln/>
        </p:spPr>
        <p:txBody>
          <a:bodyPr wrap="square" lIns="50800" tIns="177800" rIns="177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7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first. Scale autonomy responsibly.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lfly College Theme">
  <a:themeElements>
    <a:clrScheme name="Wolfly College Theme">
      <a:dk1>
        <a:srgbClr val="000000"/>
      </a:dk1>
      <a:lt1>
        <a:srgbClr val="FFFFFF"/>
      </a:lt1>
      <a:dk2>
        <a:srgbClr val="3A1F5D"/>
      </a:dk2>
      <a:lt2>
        <a:srgbClr val="F4EEFA"/>
      </a:lt2>
      <a:accent1>
        <a:srgbClr val="3A1F5D"/>
      </a:accent1>
      <a:accent2>
        <a:srgbClr val="6E4B8A"/>
      </a:accent2>
      <a:accent3>
        <a:srgbClr val="8B6FB3"/>
      </a:accent3>
      <a:accent4>
        <a:srgbClr val="6A1B9A"/>
      </a:accent4>
      <a:accent5>
        <a:srgbClr val="5E5661"/>
      </a:accent5>
      <a:accent6>
        <a:srgbClr val="F7F1E6"/>
      </a:accent6>
      <a:hlink>
        <a:srgbClr val="6A1B9A"/>
      </a:hlink>
      <a:folHlink>
        <a:srgbClr val="6E4B8A"/>
      </a:folHlink>
    </a:clrScheme>
    <a:fontScheme name="Wolfly College Them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1135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Wolfly College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Wolfly - AI-Based Legal Document Analysis and Generation</dc:title>
  <dc:subject>PptxGenJS Presentation</dc:subject>
  <dc:creator>Department of AI &amp; ML</dc:creator>
  <cp:lastModifiedBy>Welcome</cp:lastModifiedBy>
  <cp:revision>2</cp:revision>
  <dcterms:created xsi:type="dcterms:W3CDTF">2026-10-05T13:24:14Z</dcterms:created>
  <dcterms:modified xsi:type="dcterms:W3CDTF">2026-10-05T13:31:25Z</dcterms:modified>
</cp:coreProperties>
</file>